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>
              <a:gd name="adj" fmla="val 1067"/>
            </a:avLst>
          </a:prstGeom>
          <a:solidFill>
            <a:srgbClr val="08111D"/>
          </a:solidFill>
          <a:ln w="12700">
            <a:solidFill>
              <a:srgbClr val="08111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7452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176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8348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6968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4692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97864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28016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61188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38912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16636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0"/>
            <a:ext cx="109728" cy="6858000"/>
          </a:xfrm>
          <a:prstGeom prst="rect">
            <a:avLst>
              <a:gd name="adj" fmla="val 66667"/>
            </a:avLst>
          </a:prstGeom>
          <a:solidFill>
            <a:srgbClr val="3C91C5"/>
          </a:solidFill>
          <a:ln w="12700">
            <a:solidFill>
              <a:srgbClr val="3C91C5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68580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RELAY-4  /  FIELD BRIEFING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" y="1481328"/>
            <a:ext cx="7315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spc="20" kern="0" dirty="0">
                <a:solidFill>
                  <a:srgbClr val="F1F5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EMERGENCY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713232" y="2139696"/>
            <a:ext cx="7315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spc="20" kern="0" dirty="0">
                <a:solidFill>
                  <a:srgbClr val="F1F5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INTAKE</a:t>
            </a:r>
            <a:endParaRPr lang="en-US" sz="4400" dirty="0"/>
          </a:p>
        </p:txBody>
      </p:sp>
      <p:sp>
        <p:nvSpPr>
          <p:cNvPr id="32" name="Text 30"/>
          <p:cNvSpPr/>
          <p:nvPr/>
        </p:nvSpPr>
        <p:spPr>
          <a:xfrm>
            <a:off x="713232" y="2798064"/>
            <a:ext cx="7315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spc="20" kern="0" dirty="0">
                <a:solidFill>
                  <a:srgbClr val="7CC8D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INTELLIGENCE</a:t>
            </a:r>
            <a:endParaRPr lang="en-US" sz="4400" dirty="0"/>
          </a:p>
        </p:txBody>
      </p:sp>
      <p:sp>
        <p:nvSpPr>
          <p:cNvPr id="33" name="Shape 31"/>
          <p:cNvSpPr/>
          <p:nvPr/>
        </p:nvSpPr>
        <p:spPr>
          <a:xfrm>
            <a:off x="740664" y="3694176"/>
            <a:ext cx="5614416" cy="0"/>
          </a:xfrm>
          <a:prstGeom prst="line">
            <a:avLst/>
          </a:prstGeom>
          <a:noFill/>
          <a:ln w="38100">
            <a:solidFill>
              <a:srgbClr val="3C9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3986784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AI-ASSISTED VOICE INTAKE. HUMAN-LED EMERGENCY RESPONSE.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68096" y="5257800"/>
            <a:ext cx="1069848" cy="274320"/>
          </a:xfrm>
          <a:prstGeom prst="roundRect">
            <a:avLst>
              <a:gd name="adj" fmla="val 26667"/>
            </a:avLst>
          </a:prstGeom>
          <a:solidFill>
            <a:srgbClr val="142536"/>
          </a:solidFill>
          <a:ln w="12700">
            <a:solidFill>
              <a:srgbClr val="2840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526694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120" kern="0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01</a:t>
            </a:r>
            <a:endParaRPr lang="en-US" sz="810" dirty="0"/>
          </a:p>
        </p:txBody>
      </p:sp>
      <p:sp>
        <p:nvSpPr>
          <p:cNvPr id="37" name="Shape 35"/>
          <p:cNvSpPr/>
          <p:nvPr/>
        </p:nvSpPr>
        <p:spPr>
          <a:xfrm>
            <a:off x="1993392" y="5257800"/>
            <a:ext cx="1636776" cy="274320"/>
          </a:xfrm>
          <a:prstGeom prst="roundRect">
            <a:avLst>
              <a:gd name="adj" fmla="val 26667"/>
            </a:avLst>
          </a:prstGeom>
          <a:solidFill>
            <a:srgbClr val="142536"/>
          </a:solidFill>
          <a:ln w="12700">
            <a:solidFill>
              <a:srgbClr val="2840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93976" y="5266944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120" kern="0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ELEVENLABS</a:t>
            </a:r>
            <a:endParaRPr lang="en-US" sz="810" dirty="0"/>
          </a:p>
        </p:txBody>
      </p:sp>
      <p:sp>
        <p:nvSpPr>
          <p:cNvPr id="39" name="Shape 37"/>
          <p:cNvSpPr/>
          <p:nvPr/>
        </p:nvSpPr>
        <p:spPr>
          <a:xfrm>
            <a:off x="3776472" y="5257800"/>
            <a:ext cx="1179576" cy="274320"/>
          </a:xfrm>
          <a:prstGeom prst="roundRect">
            <a:avLst>
              <a:gd name="adj" fmla="val 26667"/>
            </a:avLst>
          </a:prstGeom>
          <a:solidFill>
            <a:srgbClr val="142536"/>
          </a:solidFill>
          <a:ln w="12700">
            <a:solidFill>
              <a:srgbClr val="2840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77056" y="5266944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120" kern="0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</a:t>
            </a:r>
            <a:endParaRPr lang="en-US" sz="810" dirty="0"/>
          </a:p>
        </p:txBody>
      </p:sp>
      <p:sp>
        <p:nvSpPr>
          <p:cNvPr id="41" name="Shape 39"/>
          <p:cNvSpPr/>
          <p:nvPr/>
        </p:nvSpPr>
        <p:spPr>
          <a:xfrm>
            <a:off x="7342632" y="1152144"/>
            <a:ext cx="4023360" cy="4562856"/>
          </a:xfrm>
          <a:prstGeom prst="roundRect">
            <a:avLst>
              <a:gd name="adj" fmla="val 2045"/>
            </a:avLst>
          </a:prstGeom>
          <a:solidFill>
            <a:srgbClr val="101E2D"/>
          </a:solidFill>
          <a:ln w="11430">
            <a:solidFill>
              <a:srgbClr val="2840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26096" y="1472184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INCIDENT CONSOLE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626096" y="1819656"/>
            <a:ext cx="3419856" cy="0"/>
          </a:xfrm>
          <a:prstGeom prst="line">
            <a:avLst/>
          </a:prstGeom>
          <a:noFill/>
          <a:ln w="12700">
            <a:solidFill>
              <a:srgbClr val="2840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26096" y="1975104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7B8C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CHANNEL  /  VOICE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0757916" y="2007108"/>
            <a:ext cx="155448" cy="155448"/>
          </a:xfrm>
          <a:prstGeom prst="ellipse">
            <a:avLst>
              <a:gd name="adj" fmla="val 47059"/>
            </a:avLst>
          </a:prstGeom>
          <a:solidFill>
            <a:srgbClr val="74B69D"/>
          </a:solidFill>
          <a:ln w="12700">
            <a:solidFill>
              <a:srgbClr val="74B69D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994392" y="198424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4B6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690104" y="2939796"/>
            <a:ext cx="66751" cy="118872"/>
          </a:xfrm>
          <a:prstGeom prst="roundRect">
            <a:avLst>
              <a:gd name="adj" fmla="val 109589"/>
            </a:avLst>
          </a:prstGeom>
          <a:solidFill>
            <a:srgbClr val="3C91C5"/>
          </a:solidFill>
          <a:ln w="12700">
            <a:solidFill>
              <a:srgbClr val="3C91C5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40066" y="2898648"/>
            <a:ext cx="66751" cy="201168"/>
          </a:xfrm>
          <a:prstGeom prst="roundRect">
            <a:avLst>
              <a:gd name="adj" fmla="val 109589"/>
            </a:avLst>
          </a:prstGeom>
          <a:solidFill>
            <a:srgbClr val="3C91C5"/>
          </a:solidFill>
          <a:ln w="12700">
            <a:solidFill>
              <a:srgbClr val="3C91C5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90027" y="2830068"/>
            <a:ext cx="66751" cy="338328"/>
          </a:xfrm>
          <a:prstGeom prst="roundRect">
            <a:avLst>
              <a:gd name="adj" fmla="val 109589"/>
            </a:avLst>
          </a:prstGeom>
          <a:solidFill>
            <a:srgbClr val="3C91C5"/>
          </a:solidFill>
          <a:ln w="12700">
            <a:solidFill>
              <a:srgbClr val="3C91C5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39989" y="2912364"/>
            <a:ext cx="66751" cy="173736"/>
          </a:xfrm>
          <a:prstGeom prst="roundRect">
            <a:avLst>
              <a:gd name="adj" fmla="val 109589"/>
            </a:avLst>
          </a:prstGeom>
          <a:solidFill>
            <a:srgbClr val="3C91C5"/>
          </a:solidFill>
          <a:ln w="12700">
            <a:solidFill>
              <a:srgbClr val="3C91C5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89950" y="2798064"/>
            <a:ext cx="66751" cy="402336"/>
          </a:xfrm>
          <a:prstGeom prst="roundRect">
            <a:avLst>
              <a:gd name="adj" fmla="val 109589"/>
            </a:avLst>
          </a:prstGeom>
          <a:solidFill>
            <a:srgbClr val="3C91C5"/>
          </a:solidFill>
          <a:ln w="12700">
            <a:solidFill>
              <a:srgbClr val="3C91C5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439912" y="2724912"/>
            <a:ext cx="66751" cy="548640"/>
          </a:xfrm>
          <a:prstGeom prst="roundRect">
            <a:avLst>
              <a:gd name="adj" fmla="val 109589"/>
            </a:avLst>
          </a:prstGeom>
          <a:solidFill>
            <a:srgbClr val="3C91C5"/>
          </a:solidFill>
          <a:ln w="12700">
            <a:solidFill>
              <a:srgbClr val="3C91C5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89874" y="2839212"/>
            <a:ext cx="66751" cy="320040"/>
          </a:xfrm>
          <a:prstGeom prst="roundRect">
            <a:avLst>
              <a:gd name="adj" fmla="val 109589"/>
            </a:avLst>
          </a:prstGeom>
          <a:solidFill>
            <a:srgbClr val="3C91C5"/>
          </a:solidFill>
          <a:ln w="12700">
            <a:solidFill>
              <a:srgbClr val="3C91C5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39835" y="2907792"/>
            <a:ext cx="66751" cy="182880"/>
          </a:xfrm>
          <a:prstGeom prst="roundRect">
            <a:avLst>
              <a:gd name="adj" fmla="val 109589"/>
            </a:avLst>
          </a:prstGeom>
          <a:solidFill>
            <a:srgbClr val="3C91C5"/>
          </a:solidFill>
          <a:ln w="12700">
            <a:solidFill>
              <a:srgbClr val="3C91C5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889797" y="2802636"/>
            <a:ext cx="66751" cy="393192"/>
          </a:xfrm>
          <a:prstGeom prst="roundRect">
            <a:avLst>
              <a:gd name="adj" fmla="val 109589"/>
            </a:avLst>
          </a:prstGeom>
          <a:solidFill>
            <a:srgbClr val="3C91C5"/>
          </a:solidFill>
          <a:ln w="12700">
            <a:solidFill>
              <a:srgbClr val="3C91C5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39758" y="2647188"/>
            <a:ext cx="66751" cy="704088"/>
          </a:xfrm>
          <a:prstGeom prst="roundRect">
            <a:avLst>
              <a:gd name="adj" fmla="val 109589"/>
            </a:avLst>
          </a:prstGeom>
          <a:solidFill>
            <a:srgbClr val="7CC8DE"/>
          </a:solidFill>
          <a:ln w="12700">
            <a:solidFill>
              <a:srgbClr val="7CC8DE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189720" y="2784348"/>
            <a:ext cx="66751" cy="429768"/>
          </a:xfrm>
          <a:prstGeom prst="roundRect">
            <a:avLst>
              <a:gd name="adj" fmla="val 109589"/>
            </a:avLst>
          </a:prstGeom>
          <a:solidFill>
            <a:srgbClr val="7CC8DE"/>
          </a:solidFill>
          <a:ln w="12700">
            <a:solidFill>
              <a:srgbClr val="7CC8DE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339682" y="2880360"/>
            <a:ext cx="66751" cy="237744"/>
          </a:xfrm>
          <a:prstGeom prst="roundRect">
            <a:avLst>
              <a:gd name="adj" fmla="val 109589"/>
            </a:avLst>
          </a:prstGeom>
          <a:solidFill>
            <a:srgbClr val="7CC8DE"/>
          </a:solidFill>
          <a:ln w="12700">
            <a:solidFill>
              <a:srgbClr val="7CC8DE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489643" y="2743200"/>
            <a:ext cx="66751" cy="512064"/>
          </a:xfrm>
          <a:prstGeom prst="roundRect">
            <a:avLst>
              <a:gd name="adj" fmla="val 109589"/>
            </a:avLst>
          </a:prstGeom>
          <a:solidFill>
            <a:srgbClr val="7CC8DE"/>
          </a:solidFill>
          <a:ln w="12700">
            <a:solidFill>
              <a:srgbClr val="7CC8DE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639605" y="2852928"/>
            <a:ext cx="66751" cy="292608"/>
          </a:xfrm>
          <a:prstGeom prst="roundRect">
            <a:avLst>
              <a:gd name="adj" fmla="val 109589"/>
            </a:avLst>
          </a:prstGeom>
          <a:solidFill>
            <a:srgbClr val="7CC8DE"/>
          </a:solidFill>
          <a:ln w="12700">
            <a:solidFill>
              <a:srgbClr val="7CC8DE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789566" y="2912364"/>
            <a:ext cx="66751" cy="173736"/>
          </a:xfrm>
          <a:prstGeom prst="roundRect">
            <a:avLst>
              <a:gd name="adj" fmla="val 109589"/>
            </a:avLst>
          </a:prstGeom>
          <a:solidFill>
            <a:srgbClr val="7CC8DE"/>
          </a:solidFill>
          <a:ln w="12700">
            <a:solidFill>
              <a:srgbClr val="7CC8DE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939528" y="2775204"/>
            <a:ext cx="66751" cy="448056"/>
          </a:xfrm>
          <a:prstGeom prst="roundRect">
            <a:avLst>
              <a:gd name="adj" fmla="val 109589"/>
            </a:avLst>
          </a:prstGeom>
          <a:solidFill>
            <a:srgbClr val="3C91C5"/>
          </a:solidFill>
          <a:ln w="12700">
            <a:solidFill>
              <a:srgbClr val="3C91C5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089490" y="2871216"/>
            <a:ext cx="66751" cy="256032"/>
          </a:xfrm>
          <a:prstGeom prst="roundRect">
            <a:avLst>
              <a:gd name="adj" fmla="val 109589"/>
            </a:avLst>
          </a:prstGeom>
          <a:solidFill>
            <a:srgbClr val="3C91C5"/>
          </a:solidFill>
          <a:ln w="12700">
            <a:solidFill>
              <a:srgbClr val="3C91C5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239451" y="2926080"/>
            <a:ext cx="66751" cy="146304"/>
          </a:xfrm>
          <a:prstGeom prst="roundRect">
            <a:avLst>
              <a:gd name="adj" fmla="val 109589"/>
            </a:avLst>
          </a:prstGeom>
          <a:solidFill>
            <a:srgbClr val="3C91C5"/>
          </a:solidFill>
          <a:ln w="12700">
            <a:solidFill>
              <a:srgbClr val="3C91C5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389413" y="2816352"/>
            <a:ext cx="66751" cy="365760"/>
          </a:xfrm>
          <a:prstGeom prst="roundRect">
            <a:avLst>
              <a:gd name="adj" fmla="val 109589"/>
            </a:avLst>
          </a:prstGeom>
          <a:solidFill>
            <a:srgbClr val="3C91C5"/>
          </a:solidFill>
          <a:ln w="12700">
            <a:solidFill>
              <a:srgbClr val="3C91C5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539374" y="2894076"/>
            <a:ext cx="66751" cy="210312"/>
          </a:xfrm>
          <a:prstGeom prst="roundRect">
            <a:avLst>
              <a:gd name="adj" fmla="val 109589"/>
            </a:avLst>
          </a:prstGeom>
          <a:solidFill>
            <a:srgbClr val="3C91C5"/>
          </a:solidFill>
          <a:ln w="12700">
            <a:solidFill>
              <a:srgbClr val="3C91C5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689336" y="2948940"/>
            <a:ext cx="66751" cy="100584"/>
          </a:xfrm>
          <a:prstGeom prst="roundRect">
            <a:avLst>
              <a:gd name="adj" fmla="val 109589"/>
            </a:avLst>
          </a:prstGeom>
          <a:solidFill>
            <a:srgbClr val="3C91C5"/>
          </a:solidFill>
          <a:ln w="12700">
            <a:solidFill>
              <a:srgbClr val="3C91C5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626096" y="3776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E3A85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LOCATION   PENDING CONFIRMATION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626096" y="4151376"/>
            <a:ext cx="3401568" cy="0"/>
          </a:xfrm>
          <a:prstGeom prst="line">
            <a:avLst/>
          </a:prstGeom>
          <a:noFill/>
          <a:ln w="12700">
            <a:solidFill>
              <a:srgbClr val="28405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626096" y="439826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F849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INCIDENT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9162288" y="439826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INTAKE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7626096" y="47731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F849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CONTROL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9162288" y="477316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OPERATOR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40664" y="62819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F849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PROTOTYPE / NOT A LIVE 911 SERVICE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>
              <a:gd name="adj" fmla="val 1067"/>
            </a:avLst>
          </a:prstGeom>
          <a:solidFill>
            <a:srgbClr val="08111D"/>
          </a:solidFill>
          <a:ln w="12700">
            <a:solidFill>
              <a:srgbClr val="08111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6192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04288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72384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0857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76672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4768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12864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17152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85248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53344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28953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768096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536192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04288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072384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08576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76672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144768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912864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73152" cy="6858000"/>
          </a:xfrm>
          <a:prstGeom prst="rect">
            <a:avLst>
              <a:gd name="adj" fmla="val 100000"/>
            </a:avLst>
          </a:prstGeom>
          <a:solidFill>
            <a:srgbClr val="3C91C5"/>
          </a:solidFill>
          <a:ln w="12700">
            <a:solidFill>
              <a:srgbClr val="3C91C5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2336" y="329184"/>
            <a:ext cx="109728" cy="109728"/>
          </a:xfrm>
          <a:prstGeom prst="rect">
            <a:avLst>
              <a:gd name="adj" fmla="val 66667"/>
            </a:avLst>
          </a:prstGeom>
          <a:solidFill>
            <a:srgbClr val="7CC8DE"/>
          </a:solidFill>
          <a:ln w="12700">
            <a:solidFill>
              <a:srgbClr val="7CC8D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28346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5" kern="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R4  /  DISPATCH SUPPORT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55280" y="301752"/>
            <a:ext cx="3703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F84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PROBLEM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6537960"/>
            <a:ext cx="11183112" cy="0"/>
          </a:xfrm>
          <a:prstGeom prst="line">
            <a:avLst/>
          </a:prstGeom>
          <a:noFill/>
          <a:ln w="12700">
            <a:solidFill>
              <a:srgbClr val="2840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60196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F849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RELAY-4   •   MVP 01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675120" y="660196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F849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PROTOTYPE  /  HUMAN-LED RESPONSE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228832" y="658368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C8D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4944" y="8503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7512" y="1161288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1F5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Critical calls. Too much manual friction.</a:t>
            </a:r>
            <a:endParaRPr lang="en-US" sz="2900" dirty="0"/>
          </a:p>
        </p:txBody>
      </p:sp>
      <p:sp>
        <p:nvSpPr>
          <p:cNvPr id="40" name="Text 38"/>
          <p:cNvSpPr/>
          <p:nvPr/>
        </p:nvSpPr>
        <p:spPr>
          <a:xfrm>
            <a:off x="694944" y="180136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During a high-pressure call, information has to be understood, documented, checked, and acted on.</a:t>
            </a:r>
            <a:endParaRPr lang="en-US" sz="1230" dirty="0"/>
          </a:p>
        </p:txBody>
      </p:sp>
      <p:sp>
        <p:nvSpPr>
          <p:cNvPr id="41" name="Shape 39"/>
          <p:cNvSpPr/>
          <p:nvPr/>
        </p:nvSpPr>
        <p:spPr>
          <a:xfrm>
            <a:off x="685800" y="2606040"/>
            <a:ext cx="3529584" cy="2542032"/>
          </a:xfrm>
          <a:prstGeom prst="roundRect">
            <a:avLst>
              <a:gd name="adj" fmla="val 3237"/>
            </a:avLst>
          </a:prstGeom>
          <a:solidFill>
            <a:srgbClr val="101E2D"/>
          </a:solidFill>
          <a:ln w="11430">
            <a:solidFill>
              <a:srgbClr val="2840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2898648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C91C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01</a:t>
            </a:r>
            <a:endParaRPr lang="en-US" sz="2300" dirty="0"/>
          </a:p>
        </p:txBody>
      </p:sp>
      <p:sp>
        <p:nvSpPr>
          <p:cNvPr id="43" name="Shape 41"/>
          <p:cNvSpPr/>
          <p:nvPr/>
        </p:nvSpPr>
        <p:spPr>
          <a:xfrm>
            <a:off x="932688" y="3429000"/>
            <a:ext cx="3008376" cy="0"/>
          </a:xfrm>
          <a:prstGeom prst="line">
            <a:avLst/>
          </a:prstGeom>
          <a:noFill/>
          <a:ln w="12700">
            <a:solidFill>
              <a:srgbClr val="2840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3544" y="3602736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DISTRESSED CALLER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23544" y="4050792"/>
            <a:ext cx="29992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Details arrive out of order, sometimes through panic, silence, or background noise.</a:t>
            </a:r>
            <a:endParaRPr lang="en-US" sz="1220" dirty="0"/>
          </a:p>
        </p:txBody>
      </p:sp>
      <p:sp>
        <p:nvSpPr>
          <p:cNvPr id="46" name="Text 44"/>
          <p:cNvSpPr/>
          <p:nvPr/>
        </p:nvSpPr>
        <p:spPr>
          <a:xfrm>
            <a:off x="923544" y="4828032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UNSTRUCTURED INPUT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26280" y="2606040"/>
            <a:ext cx="3529584" cy="2542032"/>
          </a:xfrm>
          <a:prstGeom prst="roundRect">
            <a:avLst>
              <a:gd name="adj" fmla="val 3237"/>
            </a:avLst>
          </a:prstGeom>
          <a:solidFill>
            <a:srgbClr val="101E2D"/>
          </a:solidFill>
          <a:ln w="11430">
            <a:solidFill>
              <a:srgbClr val="2840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2898648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C91C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02</a:t>
            </a:r>
            <a:endParaRPr lang="en-US" sz="2300" dirty="0"/>
          </a:p>
        </p:txBody>
      </p:sp>
      <p:sp>
        <p:nvSpPr>
          <p:cNvPr id="49" name="Shape 47"/>
          <p:cNvSpPr/>
          <p:nvPr/>
        </p:nvSpPr>
        <p:spPr>
          <a:xfrm>
            <a:off x="4773168" y="3429000"/>
            <a:ext cx="3008376" cy="0"/>
          </a:xfrm>
          <a:prstGeom prst="line">
            <a:avLst/>
          </a:prstGeom>
          <a:noFill/>
          <a:ln w="12700">
            <a:solidFill>
              <a:srgbClr val="2840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64024" y="3602736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DOCUMENTATION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4764024" y="4050792"/>
            <a:ext cx="29992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Locations, injuries, and changing conditions require repeated listening and typing.</a:t>
            </a:r>
            <a:endParaRPr lang="en-US" sz="1220" dirty="0"/>
          </a:p>
        </p:txBody>
      </p:sp>
      <p:sp>
        <p:nvSpPr>
          <p:cNvPr id="52" name="Text 50"/>
          <p:cNvSpPr/>
          <p:nvPr/>
        </p:nvSpPr>
        <p:spPr>
          <a:xfrm>
            <a:off x="4764024" y="4828032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COGNITIVE OVERHEAD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366760" y="2606040"/>
            <a:ext cx="3529584" cy="2542032"/>
          </a:xfrm>
          <a:prstGeom prst="roundRect">
            <a:avLst>
              <a:gd name="adj" fmla="val 3237"/>
            </a:avLst>
          </a:prstGeom>
          <a:solidFill>
            <a:srgbClr val="101E2D"/>
          </a:solidFill>
          <a:ln w="11430">
            <a:solidFill>
              <a:srgbClr val="2840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95360" y="2898648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C91C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03</a:t>
            </a:r>
            <a:endParaRPr lang="en-US" sz="2300" dirty="0"/>
          </a:p>
        </p:txBody>
      </p:sp>
      <p:sp>
        <p:nvSpPr>
          <p:cNvPr id="55" name="Shape 53"/>
          <p:cNvSpPr/>
          <p:nvPr/>
        </p:nvSpPr>
        <p:spPr>
          <a:xfrm>
            <a:off x="8613648" y="3429000"/>
            <a:ext cx="3008376" cy="0"/>
          </a:xfrm>
          <a:prstGeom prst="line">
            <a:avLst/>
          </a:prstGeom>
          <a:noFill/>
          <a:ln w="12700">
            <a:solidFill>
              <a:srgbClr val="2840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04504" y="3602736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TIME-SENSITIVE JUDGMENT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8604504" y="4050792"/>
            <a:ext cx="29992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dispatcher must maintain situational awareness and decide what needs attention.</a:t>
            </a:r>
            <a:endParaRPr lang="en-US" sz="1220" dirty="0"/>
          </a:p>
        </p:txBody>
      </p:sp>
      <p:sp>
        <p:nvSpPr>
          <p:cNvPr id="58" name="Text 56"/>
          <p:cNvSpPr/>
          <p:nvPr/>
        </p:nvSpPr>
        <p:spPr>
          <a:xfrm>
            <a:off x="8604504" y="4828032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RESPONSIBILITY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85800" y="5504688"/>
            <a:ext cx="11201400" cy="512064"/>
          </a:xfrm>
          <a:prstGeom prst="roundRect">
            <a:avLst>
              <a:gd name="adj" fmla="val 14286"/>
            </a:avLst>
          </a:prstGeom>
          <a:solidFill>
            <a:srgbClr val="142536"/>
          </a:solidFill>
          <a:ln w="12700">
            <a:solidFill>
              <a:srgbClr val="142536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05256" y="5641848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OPPORTUNITY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779776" y="5568696"/>
            <a:ext cx="8613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 voice into a clear, reviewable incident brief without removing the dispatcher from the loop.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>
              <a:gd name="adj" fmla="val 1067"/>
            </a:avLst>
          </a:prstGeom>
          <a:solidFill>
            <a:srgbClr val="08111D"/>
          </a:solidFill>
          <a:ln w="12700">
            <a:solidFill>
              <a:srgbClr val="08111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6192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04288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72384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0857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76672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4768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12864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17152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85248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53344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28953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768096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536192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04288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072384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08576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76672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144768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912864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73152" cy="6858000"/>
          </a:xfrm>
          <a:prstGeom prst="rect">
            <a:avLst>
              <a:gd name="adj" fmla="val 100000"/>
            </a:avLst>
          </a:prstGeom>
          <a:solidFill>
            <a:srgbClr val="3C91C5"/>
          </a:solidFill>
          <a:ln w="12700">
            <a:solidFill>
              <a:srgbClr val="3C91C5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2336" y="329184"/>
            <a:ext cx="109728" cy="109728"/>
          </a:xfrm>
          <a:prstGeom prst="rect">
            <a:avLst>
              <a:gd name="adj" fmla="val 66667"/>
            </a:avLst>
          </a:prstGeom>
          <a:solidFill>
            <a:srgbClr val="7CC8DE"/>
          </a:solidFill>
          <a:ln w="12700">
            <a:solidFill>
              <a:srgbClr val="7CC8D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28346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5" kern="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R4  /  DISPATCH SUPPORT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55280" y="301752"/>
            <a:ext cx="3703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F84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6537960"/>
            <a:ext cx="11183112" cy="0"/>
          </a:xfrm>
          <a:prstGeom prst="line">
            <a:avLst/>
          </a:prstGeom>
          <a:noFill/>
          <a:ln w="12700">
            <a:solidFill>
              <a:srgbClr val="2840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60196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F849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RELAY-4   •   MVP 01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675120" y="660196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F849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PROTOTYPE  /  HUMAN-LED RESPONSE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228832" y="658368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C8D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4944" y="8503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MISSION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7512" y="1161288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1F5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Support the operator. Never replace them.</a:t>
            </a:r>
            <a:endParaRPr lang="en-US" sz="2900" dirty="0"/>
          </a:p>
        </p:txBody>
      </p:sp>
      <p:sp>
        <p:nvSpPr>
          <p:cNvPr id="40" name="Text 38"/>
          <p:cNvSpPr/>
          <p:nvPr/>
        </p:nvSpPr>
        <p:spPr>
          <a:xfrm>
            <a:off x="694944" y="180136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Relay-4 collects and organizes caller-reported facts so a human can review the situation faster.</a:t>
            </a:r>
            <a:endParaRPr lang="en-US" sz="1230" dirty="0"/>
          </a:p>
        </p:txBody>
      </p:sp>
      <p:sp>
        <p:nvSpPr>
          <p:cNvPr id="41" name="Shape 39"/>
          <p:cNvSpPr/>
          <p:nvPr/>
        </p:nvSpPr>
        <p:spPr>
          <a:xfrm>
            <a:off x="694944" y="2514600"/>
            <a:ext cx="4754880" cy="3236976"/>
          </a:xfrm>
          <a:prstGeom prst="roundRect">
            <a:avLst>
              <a:gd name="adj" fmla="val 2542"/>
            </a:avLst>
          </a:prstGeom>
          <a:solidFill>
            <a:srgbClr val="101E2D"/>
          </a:solidFill>
          <a:ln w="11430">
            <a:solidFill>
              <a:srgbClr val="2840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24128" y="2889504"/>
            <a:ext cx="4023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F5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RELAY-4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1033272" y="3529584"/>
            <a:ext cx="4050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voice-driven first pass at emergency intake.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1033272" y="4462272"/>
            <a:ext cx="3950208" cy="0"/>
          </a:xfrm>
          <a:prstGeom prst="line">
            <a:avLst/>
          </a:prstGeom>
          <a:noFill/>
          <a:ln w="12700">
            <a:solidFill>
              <a:srgbClr val="2840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33272" y="4736592"/>
            <a:ext cx="39867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assistant asks, captures, clarifies, and updates. The dispatcher reviews and decides.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5815584" y="2551176"/>
            <a:ext cx="5449824" cy="658368"/>
          </a:xfrm>
          <a:prstGeom prst="roundRect">
            <a:avLst>
              <a:gd name="adj" fmla="val 11111"/>
            </a:avLst>
          </a:prstGeom>
          <a:solidFill>
            <a:srgbClr val="101E2D"/>
          </a:solidFill>
          <a:ln w="12700">
            <a:solidFill>
              <a:srgbClr val="2840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15584" y="2551176"/>
            <a:ext cx="59436" cy="658368"/>
          </a:xfrm>
          <a:prstGeom prst="rect">
            <a:avLst>
              <a:gd name="adj" fmla="val 123077"/>
            </a:avLst>
          </a:prstGeom>
          <a:solidFill>
            <a:srgbClr val="3C91C5"/>
          </a:solidFill>
          <a:ln w="12700">
            <a:solidFill>
              <a:srgbClr val="3C91C5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99048" y="2752344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C91C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01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583680" y="265176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LISTEN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156448" y="2642616"/>
            <a:ext cx="2825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Hear caller-reported events</a:t>
            </a:r>
            <a:endParaRPr lang="en-US" sz="1130" dirty="0"/>
          </a:p>
        </p:txBody>
      </p:sp>
      <p:sp>
        <p:nvSpPr>
          <p:cNvPr id="51" name="Shape 49"/>
          <p:cNvSpPr/>
          <p:nvPr/>
        </p:nvSpPr>
        <p:spPr>
          <a:xfrm>
            <a:off x="5815584" y="3355848"/>
            <a:ext cx="5449824" cy="658368"/>
          </a:xfrm>
          <a:prstGeom prst="roundRect">
            <a:avLst>
              <a:gd name="adj" fmla="val 11111"/>
            </a:avLst>
          </a:prstGeom>
          <a:solidFill>
            <a:srgbClr val="101E2D"/>
          </a:solidFill>
          <a:ln w="12700">
            <a:solidFill>
              <a:srgbClr val="2840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815584" y="3355848"/>
            <a:ext cx="59436" cy="658368"/>
          </a:xfrm>
          <a:prstGeom prst="rect">
            <a:avLst>
              <a:gd name="adj" fmla="val 123077"/>
            </a:avLst>
          </a:prstGeom>
          <a:solidFill>
            <a:srgbClr val="3C91C5"/>
          </a:solidFill>
          <a:ln w="12700">
            <a:solidFill>
              <a:srgbClr val="3C91C5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99048" y="355701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C91C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02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583680" y="345643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CLARIFY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156448" y="3447288"/>
            <a:ext cx="2825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focused follow-up questions</a:t>
            </a:r>
            <a:endParaRPr lang="en-US" sz="1130" dirty="0"/>
          </a:p>
        </p:txBody>
      </p:sp>
      <p:sp>
        <p:nvSpPr>
          <p:cNvPr id="56" name="Shape 54"/>
          <p:cNvSpPr/>
          <p:nvPr/>
        </p:nvSpPr>
        <p:spPr>
          <a:xfrm>
            <a:off x="5815584" y="4160520"/>
            <a:ext cx="5449824" cy="658368"/>
          </a:xfrm>
          <a:prstGeom prst="roundRect">
            <a:avLst>
              <a:gd name="adj" fmla="val 11111"/>
            </a:avLst>
          </a:prstGeom>
          <a:solidFill>
            <a:srgbClr val="101E2D"/>
          </a:solidFill>
          <a:ln w="12700">
            <a:solidFill>
              <a:srgbClr val="28405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815584" y="4160520"/>
            <a:ext cx="59436" cy="658368"/>
          </a:xfrm>
          <a:prstGeom prst="rect">
            <a:avLst>
              <a:gd name="adj" fmla="val 123077"/>
            </a:avLst>
          </a:prstGeom>
          <a:solidFill>
            <a:srgbClr val="3C91C5"/>
          </a:solidFill>
          <a:ln w="12700">
            <a:solidFill>
              <a:srgbClr val="3C91C5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99048" y="436168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C91C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03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583680" y="4261104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8156448" y="4251960"/>
            <a:ext cx="2825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consistent incident record</a:t>
            </a:r>
            <a:endParaRPr lang="en-US" sz="1130" dirty="0"/>
          </a:p>
        </p:txBody>
      </p:sp>
      <p:sp>
        <p:nvSpPr>
          <p:cNvPr id="61" name="Shape 59"/>
          <p:cNvSpPr/>
          <p:nvPr/>
        </p:nvSpPr>
        <p:spPr>
          <a:xfrm>
            <a:off x="5815584" y="4965192"/>
            <a:ext cx="5449824" cy="658368"/>
          </a:xfrm>
          <a:prstGeom prst="roundRect">
            <a:avLst>
              <a:gd name="adj" fmla="val 11111"/>
            </a:avLst>
          </a:prstGeom>
          <a:solidFill>
            <a:srgbClr val="101E2D"/>
          </a:solidFill>
          <a:ln w="12700">
            <a:solidFill>
              <a:srgbClr val="28405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15584" y="4965192"/>
            <a:ext cx="59436" cy="658368"/>
          </a:xfrm>
          <a:prstGeom prst="rect">
            <a:avLst>
              <a:gd name="adj" fmla="val 123077"/>
            </a:avLst>
          </a:prstGeom>
          <a:solidFill>
            <a:srgbClr val="E3A85C"/>
          </a:solidFill>
          <a:ln w="12700">
            <a:solidFill>
              <a:srgbClr val="E3A85C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099048" y="5166360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C91C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04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583680" y="506577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8156448" y="5056632"/>
            <a:ext cx="2825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Preserve corrections and history</a:t>
            </a:r>
            <a:endParaRPr lang="en-US" sz="1130" dirty="0"/>
          </a:p>
        </p:txBody>
      </p:sp>
      <p:sp>
        <p:nvSpPr>
          <p:cNvPr id="66" name="Text 64"/>
          <p:cNvSpPr/>
          <p:nvPr/>
        </p:nvSpPr>
        <p:spPr>
          <a:xfrm>
            <a:off x="5833872" y="5897880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E3A8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NON-NEGOTIABLE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452360" y="5852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autonomous dispatch. No false claim that help is on the way.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>
              <a:gd name="adj" fmla="val 1067"/>
            </a:avLst>
          </a:prstGeom>
          <a:solidFill>
            <a:srgbClr val="08111D"/>
          </a:solidFill>
          <a:ln w="12700">
            <a:solidFill>
              <a:srgbClr val="08111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6192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04288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72384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0857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76672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4768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12864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17152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85248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53344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28953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768096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536192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04288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072384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08576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76672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144768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912864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73152" cy="6858000"/>
          </a:xfrm>
          <a:prstGeom prst="rect">
            <a:avLst>
              <a:gd name="adj" fmla="val 100000"/>
            </a:avLst>
          </a:prstGeom>
          <a:solidFill>
            <a:srgbClr val="3C91C5"/>
          </a:solidFill>
          <a:ln w="12700">
            <a:solidFill>
              <a:srgbClr val="3C91C5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2336" y="329184"/>
            <a:ext cx="109728" cy="109728"/>
          </a:xfrm>
          <a:prstGeom prst="rect">
            <a:avLst>
              <a:gd name="adj" fmla="val 66667"/>
            </a:avLst>
          </a:prstGeom>
          <a:solidFill>
            <a:srgbClr val="7CC8DE"/>
          </a:solidFill>
          <a:ln w="12700">
            <a:solidFill>
              <a:srgbClr val="7CC8D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28346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5" kern="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R4  /  DISPATCH SUPPORT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55280" y="301752"/>
            <a:ext cx="3703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F84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6537960"/>
            <a:ext cx="11183112" cy="0"/>
          </a:xfrm>
          <a:prstGeom prst="line">
            <a:avLst/>
          </a:prstGeom>
          <a:noFill/>
          <a:ln w="12700">
            <a:solidFill>
              <a:srgbClr val="2840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60196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F849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RELAY-4   •   MVP 01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675120" y="660196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F849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PROTOTYPE  /  HUMAN-LED RESPONSE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228832" y="658368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C8D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4944" y="8503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7512" y="1161288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1F5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From spoken report to reviewable record</a:t>
            </a:r>
            <a:endParaRPr lang="en-US" sz="2900" dirty="0"/>
          </a:p>
        </p:txBody>
      </p:sp>
      <p:sp>
        <p:nvSpPr>
          <p:cNvPr id="40" name="Text 38"/>
          <p:cNvSpPr/>
          <p:nvPr/>
        </p:nvSpPr>
        <p:spPr>
          <a:xfrm>
            <a:off x="694944" y="180136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secure, auditable path. The voice agent gathers facts; the backend owns validation and persistence.</a:t>
            </a:r>
            <a:endParaRPr lang="en-US" sz="1230" dirty="0"/>
          </a:p>
        </p:txBody>
      </p:sp>
      <p:sp>
        <p:nvSpPr>
          <p:cNvPr id="41" name="Shape 39"/>
          <p:cNvSpPr/>
          <p:nvPr/>
        </p:nvSpPr>
        <p:spPr>
          <a:xfrm>
            <a:off x="630936" y="2596896"/>
            <a:ext cx="1828800" cy="2487168"/>
          </a:xfrm>
          <a:prstGeom prst="roundRect">
            <a:avLst>
              <a:gd name="adj" fmla="val 4500"/>
            </a:avLst>
          </a:prstGeom>
          <a:solidFill>
            <a:srgbClr val="101E2D"/>
          </a:solidFill>
          <a:ln w="11430">
            <a:solidFill>
              <a:srgbClr val="2840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3816" y="2825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13816" y="3218688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C91C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01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813816" y="3767328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CALLER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13816" y="4160520"/>
            <a:ext cx="14904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Spoken emergency report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496312" y="3803904"/>
            <a:ext cx="402336" cy="0"/>
          </a:xfrm>
          <a:prstGeom prst="line">
            <a:avLst/>
          </a:prstGeom>
          <a:noFill/>
          <a:ln w="25400">
            <a:solidFill>
              <a:srgbClr val="3C91C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843784" y="3735324"/>
            <a:ext cx="128016" cy="137160"/>
          </a:xfrm>
          <a:prstGeom prst="chevron">
            <a:avLst>
              <a:gd name="adj" fmla="val 57143"/>
            </a:avLst>
          </a:prstGeom>
          <a:solidFill>
            <a:srgbClr val="7CC8DE"/>
          </a:solidFill>
          <a:ln w="12700">
            <a:solidFill>
              <a:srgbClr val="7CC8DE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71800" y="2596896"/>
            <a:ext cx="1828800" cy="2487168"/>
          </a:xfrm>
          <a:prstGeom prst="roundRect">
            <a:avLst>
              <a:gd name="adj" fmla="val 4500"/>
            </a:avLst>
          </a:prstGeom>
          <a:solidFill>
            <a:srgbClr val="101E2D"/>
          </a:solidFill>
          <a:ln w="11430">
            <a:solidFill>
              <a:srgbClr val="2840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54680" y="2825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154680" y="3218688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C91C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02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3154680" y="3767328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ELEVENLABS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154680" y="4160520"/>
            <a:ext cx="14904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Conversational AI + tool call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837176" y="3803904"/>
            <a:ext cx="402336" cy="0"/>
          </a:xfrm>
          <a:prstGeom prst="line">
            <a:avLst/>
          </a:prstGeom>
          <a:noFill/>
          <a:ln w="25400">
            <a:solidFill>
              <a:srgbClr val="3C91C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184648" y="3735324"/>
            <a:ext cx="128016" cy="137160"/>
          </a:xfrm>
          <a:prstGeom prst="chevron">
            <a:avLst>
              <a:gd name="adj" fmla="val 57143"/>
            </a:avLst>
          </a:prstGeom>
          <a:solidFill>
            <a:srgbClr val="7CC8DE"/>
          </a:solidFill>
          <a:ln w="12700">
            <a:solidFill>
              <a:srgbClr val="7CC8DE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12664" y="2596896"/>
            <a:ext cx="1828800" cy="2487168"/>
          </a:xfrm>
          <a:prstGeom prst="roundRect">
            <a:avLst>
              <a:gd name="adj" fmla="val 4500"/>
            </a:avLst>
          </a:prstGeom>
          <a:solidFill>
            <a:srgbClr val="101E2D"/>
          </a:solidFill>
          <a:ln w="11430">
            <a:solidFill>
              <a:srgbClr val="2840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95544" y="2825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API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495544" y="3218688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C91C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03</a:t>
            </a:r>
            <a:endParaRPr lang="en-US" sz="2400" dirty="0"/>
          </a:p>
        </p:txBody>
      </p:sp>
      <p:sp>
        <p:nvSpPr>
          <p:cNvPr id="58" name="Text 56"/>
          <p:cNvSpPr/>
          <p:nvPr/>
        </p:nvSpPr>
        <p:spPr>
          <a:xfrm>
            <a:off x="5495544" y="3767328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WEBHOOK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5495544" y="4160520"/>
            <a:ext cx="14904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 POST + secret header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178040" y="3803904"/>
            <a:ext cx="402336" cy="0"/>
          </a:xfrm>
          <a:prstGeom prst="line">
            <a:avLst/>
          </a:prstGeom>
          <a:noFill/>
          <a:ln w="25400">
            <a:solidFill>
              <a:srgbClr val="3C91C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525512" y="3735324"/>
            <a:ext cx="128016" cy="137160"/>
          </a:xfrm>
          <a:prstGeom prst="chevron">
            <a:avLst>
              <a:gd name="adj" fmla="val 57143"/>
            </a:avLst>
          </a:prstGeom>
          <a:solidFill>
            <a:srgbClr val="7CC8DE"/>
          </a:solidFill>
          <a:ln w="12700">
            <a:solidFill>
              <a:srgbClr val="7CC8DE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653528" y="2596896"/>
            <a:ext cx="1828800" cy="2487168"/>
          </a:xfrm>
          <a:prstGeom prst="roundRect">
            <a:avLst>
              <a:gd name="adj" fmla="val 4500"/>
            </a:avLst>
          </a:prstGeom>
          <a:solidFill>
            <a:srgbClr val="101E2D"/>
          </a:solidFill>
          <a:ln w="11430">
            <a:solidFill>
              <a:srgbClr val="28405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36408" y="2825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836408" y="3218688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C91C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04</a:t>
            </a:r>
            <a:endParaRPr lang="en-US" sz="2400" dirty="0"/>
          </a:p>
        </p:txBody>
      </p:sp>
      <p:sp>
        <p:nvSpPr>
          <p:cNvPr id="65" name="Text 63"/>
          <p:cNvSpPr/>
          <p:nvPr/>
        </p:nvSpPr>
        <p:spPr>
          <a:xfrm>
            <a:off x="7836408" y="3767328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7836408" y="4160520"/>
            <a:ext cx="14904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Validation, upsert + audit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518904" y="3803904"/>
            <a:ext cx="402336" cy="0"/>
          </a:xfrm>
          <a:prstGeom prst="line">
            <a:avLst/>
          </a:prstGeom>
          <a:noFill/>
          <a:ln w="25400">
            <a:solidFill>
              <a:srgbClr val="3C91C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866376" y="3735324"/>
            <a:ext cx="128016" cy="137160"/>
          </a:xfrm>
          <a:prstGeom prst="chevron">
            <a:avLst>
              <a:gd name="adj" fmla="val 57143"/>
            </a:avLst>
          </a:prstGeom>
          <a:solidFill>
            <a:srgbClr val="7CC8DE"/>
          </a:solidFill>
          <a:ln w="12700">
            <a:solidFill>
              <a:srgbClr val="7CC8DE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994392" y="2596896"/>
            <a:ext cx="1828800" cy="2487168"/>
          </a:xfrm>
          <a:prstGeom prst="roundRect">
            <a:avLst>
              <a:gd name="adj" fmla="val 4500"/>
            </a:avLst>
          </a:prstGeom>
          <a:solidFill>
            <a:srgbClr val="101E2D"/>
          </a:solidFill>
          <a:ln w="11430">
            <a:solidFill>
              <a:srgbClr val="28405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177272" y="2825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0177272" y="3218688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C91C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05</a:t>
            </a:r>
            <a:endParaRPr lang="en-US" sz="2400" dirty="0"/>
          </a:p>
        </p:txBody>
      </p:sp>
      <p:sp>
        <p:nvSpPr>
          <p:cNvPr id="72" name="Text 70"/>
          <p:cNvSpPr/>
          <p:nvPr/>
        </p:nvSpPr>
        <p:spPr>
          <a:xfrm>
            <a:off x="10177272" y="3767328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10177272" y="4160520"/>
            <a:ext cx="14904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record + history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2002536" y="5477256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42536"/>
          </a:solidFill>
          <a:ln w="12700">
            <a:solidFill>
              <a:srgbClr val="28405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267712" y="5660136"/>
            <a:ext cx="3904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DISPATCHER / REVIEWER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144768" y="5641848"/>
            <a:ext cx="3767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8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judgment and response decisions</a:t>
            </a:r>
            <a:endParaRPr lang="en-US" sz="11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>
              <a:gd name="adj" fmla="val 1067"/>
            </a:avLst>
          </a:prstGeom>
          <a:solidFill>
            <a:srgbClr val="08111D"/>
          </a:solidFill>
          <a:ln w="12700">
            <a:solidFill>
              <a:srgbClr val="08111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6192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04288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72384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0857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76672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4768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12864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17152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85248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53344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28953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768096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536192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04288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072384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08576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76672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144768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912864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73152" cy="6858000"/>
          </a:xfrm>
          <a:prstGeom prst="rect">
            <a:avLst>
              <a:gd name="adj" fmla="val 100000"/>
            </a:avLst>
          </a:prstGeom>
          <a:solidFill>
            <a:srgbClr val="3C91C5"/>
          </a:solidFill>
          <a:ln w="12700">
            <a:solidFill>
              <a:srgbClr val="3C91C5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2336" y="329184"/>
            <a:ext cx="109728" cy="109728"/>
          </a:xfrm>
          <a:prstGeom prst="rect">
            <a:avLst>
              <a:gd name="adj" fmla="val 66667"/>
            </a:avLst>
          </a:prstGeom>
          <a:solidFill>
            <a:srgbClr val="7CC8DE"/>
          </a:solidFill>
          <a:ln w="12700">
            <a:solidFill>
              <a:srgbClr val="7CC8D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28346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5" kern="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R4  /  DISPATCH SUPPORT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55280" y="301752"/>
            <a:ext cx="3703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F84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INTAKE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6537960"/>
            <a:ext cx="11183112" cy="0"/>
          </a:xfrm>
          <a:prstGeom prst="line">
            <a:avLst/>
          </a:prstGeom>
          <a:noFill/>
          <a:ln w="12700">
            <a:solidFill>
              <a:srgbClr val="2840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60196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F849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RELAY-4   •   MVP 01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675120" y="660196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F849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PROTOTYPE  /  HUMAN-LED RESPONSE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228832" y="658368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C8D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4944" y="8503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INTERACTION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7512" y="1161288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1F5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 difficult call becomes a factual brief.</a:t>
            </a:r>
            <a:endParaRPr lang="en-US" sz="2900" dirty="0"/>
          </a:p>
        </p:txBody>
      </p:sp>
      <p:sp>
        <p:nvSpPr>
          <p:cNvPr id="40" name="Text 38"/>
          <p:cNvSpPr/>
          <p:nvPr/>
        </p:nvSpPr>
        <p:spPr>
          <a:xfrm>
            <a:off x="694944" y="180136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Fictional demonstration data. The agent does not assume unconfirmed details.</a:t>
            </a:r>
            <a:endParaRPr lang="en-US" sz="1230" dirty="0"/>
          </a:p>
        </p:txBody>
      </p:sp>
      <p:sp>
        <p:nvSpPr>
          <p:cNvPr id="41" name="Shape 39"/>
          <p:cNvSpPr/>
          <p:nvPr/>
        </p:nvSpPr>
        <p:spPr>
          <a:xfrm>
            <a:off x="694944" y="2368296"/>
            <a:ext cx="5157216" cy="3547872"/>
          </a:xfrm>
          <a:prstGeom prst="roundRect">
            <a:avLst>
              <a:gd name="adj" fmla="val 2320"/>
            </a:avLst>
          </a:prstGeom>
          <a:solidFill>
            <a:srgbClr val="101E2D"/>
          </a:solidFill>
          <a:ln w="11430">
            <a:solidFill>
              <a:srgbClr val="2840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9264" y="2670048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CHANNEL / EXCERPT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78408" y="31363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3A85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CALLER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938528" y="311353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 is rising around our car.</a:t>
            </a:r>
            <a:endParaRPr lang="en-US" sz="1130" dirty="0"/>
          </a:p>
        </p:txBody>
      </p:sp>
      <p:sp>
        <p:nvSpPr>
          <p:cNvPr id="45" name="Shape 43"/>
          <p:cNvSpPr/>
          <p:nvPr/>
        </p:nvSpPr>
        <p:spPr>
          <a:xfrm>
            <a:off x="978408" y="3474720"/>
            <a:ext cx="4544568" cy="0"/>
          </a:xfrm>
          <a:prstGeom prst="line">
            <a:avLst/>
          </a:prstGeom>
          <a:noFill/>
          <a:ln w="7620">
            <a:solidFill>
              <a:srgbClr val="20334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8408" y="36118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C8D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RELAY-4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938528" y="358902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are you located?</a:t>
            </a:r>
            <a:endParaRPr lang="en-US" sz="1130" dirty="0"/>
          </a:p>
        </p:txBody>
      </p:sp>
      <p:sp>
        <p:nvSpPr>
          <p:cNvPr id="48" name="Shape 46"/>
          <p:cNvSpPr/>
          <p:nvPr/>
        </p:nvSpPr>
        <p:spPr>
          <a:xfrm>
            <a:off x="978408" y="3950208"/>
            <a:ext cx="4544568" cy="0"/>
          </a:xfrm>
          <a:prstGeom prst="line">
            <a:avLst/>
          </a:prstGeom>
          <a:noFill/>
          <a:ln w="7620">
            <a:solidFill>
              <a:srgbClr val="20334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78408" y="40873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3A85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CALLER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938528" y="406450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 Cypress Bend Market. Three of us.</a:t>
            </a:r>
            <a:endParaRPr lang="en-US" sz="1130" dirty="0"/>
          </a:p>
        </p:txBody>
      </p:sp>
      <p:sp>
        <p:nvSpPr>
          <p:cNvPr id="51" name="Shape 49"/>
          <p:cNvSpPr/>
          <p:nvPr/>
        </p:nvSpPr>
        <p:spPr>
          <a:xfrm>
            <a:off x="978408" y="4425696"/>
            <a:ext cx="4544568" cy="0"/>
          </a:xfrm>
          <a:prstGeom prst="line">
            <a:avLst/>
          </a:prstGeom>
          <a:noFill/>
          <a:ln w="7620">
            <a:solidFill>
              <a:srgbClr val="2033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78408" y="45628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C8D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RELAY-4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938528" y="453999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Cypress Bend Market correct?</a:t>
            </a:r>
            <a:endParaRPr lang="en-US" sz="1130" dirty="0"/>
          </a:p>
        </p:txBody>
      </p:sp>
      <p:sp>
        <p:nvSpPr>
          <p:cNvPr id="54" name="Shape 52"/>
          <p:cNvSpPr/>
          <p:nvPr/>
        </p:nvSpPr>
        <p:spPr>
          <a:xfrm>
            <a:off x="978408" y="4901184"/>
            <a:ext cx="4544568" cy="0"/>
          </a:xfrm>
          <a:prstGeom prst="line">
            <a:avLst/>
          </a:prstGeom>
          <a:noFill/>
          <a:ln w="7620">
            <a:solidFill>
              <a:srgbClr val="20334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78408" y="50383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3A85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CALLER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938528" y="501548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Yes.</a:t>
            </a:r>
            <a:endParaRPr lang="en-US" sz="1130" dirty="0"/>
          </a:p>
        </p:txBody>
      </p:sp>
      <p:sp>
        <p:nvSpPr>
          <p:cNvPr id="57" name="Shape 55"/>
          <p:cNvSpPr/>
          <p:nvPr/>
        </p:nvSpPr>
        <p:spPr>
          <a:xfrm>
            <a:off x="6117336" y="2368296"/>
            <a:ext cx="5376672" cy="3547872"/>
          </a:xfrm>
          <a:prstGeom prst="roundRect">
            <a:avLst>
              <a:gd name="adj" fmla="val 2320"/>
            </a:avLst>
          </a:prstGeom>
          <a:solidFill>
            <a:srgbClr val="101E2D"/>
          </a:solidFill>
          <a:ln w="11430">
            <a:solidFill>
              <a:srgbClr val="2840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19088" y="2670048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RECORD / MOCK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419088" y="3136392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F849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INCIDENT TYPE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522208" y="3108960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Flood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419088" y="3465576"/>
            <a:ext cx="4736592" cy="0"/>
          </a:xfrm>
          <a:prstGeom prst="line">
            <a:avLst/>
          </a:prstGeom>
          <a:noFill/>
          <a:ln w="7620">
            <a:solidFill>
              <a:srgbClr val="20334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19088" y="3584448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F849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LOCATION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522208" y="3557016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 Cypress Bend Market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419088" y="3913632"/>
            <a:ext cx="4736592" cy="0"/>
          </a:xfrm>
          <a:prstGeom prst="line">
            <a:avLst/>
          </a:prstGeom>
          <a:noFill/>
          <a:ln w="7620">
            <a:solidFill>
              <a:srgbClr val="20334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19088" y="4032504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F849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PEOPLE AFFECTED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522208" y="4005072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419088" y="4361688"/>
            <a:ext cx="4736592" cy="0"/>
          </a:xfrm>
          <a:prstGeom prst="line">
            <a:avLst/>
          </a:prstGeom>
          <a:noFill/>
          <a:ln w="7620">
            <a:solidFill>
              <a:srgbClr val="20334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19088" y="448056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F849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HAZARD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522208" y="4453128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Rising floodwater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419088" y="4809744"/>
            <a:ext cx="4736592" cy="0"/>
          </a:xfrm>
          <a:prstGeom prst="line">
            <a:avLst/>
          </a:prstGeom>
          <a:noFill/>
          <a:ln w="7620">
            <a:solidFill>
              <a:srgbClr val="20334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19088" y="4928616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F849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LOCATION CONFIRMED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522208" y="4901184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Yes, caller confirmed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419088" y="5257800"/>
            <a:ext cx="4736592" cy="0"/>
          </a:xfrm>
          <a:prstGeom prst="line">
            <a:avLst/>
          </a:prstGeom>
          <a:noFill/>
          <a:ln w="7620">
            <a:solidFill>
              <a:srgbClr val="20334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419088" y="5504688"/>
            <a:ext cx="4736592" cy="274320"/>
          </a:xfrm>
          <a:prstGeom prst="roundRect">
            <a:avLst>
              <a:gd name="adj" fmla="val 26667"/>
            </a:avLst>
          </a:prstGeom>
          <a:solidFill>
            <a:srgbClr val="142536"/>
          </a:solidFill>
          <a:ln w="12700">
            <a:solidFill>
              <a:srgbClr val="142536">
                <a:alpha val="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47104" y="5559552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E3A85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SOURCE: CALLER REPORT  •  NOT INDEPENDENTLY VERIFIED</a:t>
            </a:r>
            <a:endParaRPr lang="en-US" sz="7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>
              <a:gd name="adj" fmla="val 1067"/>
            </a:avLst>
          </a:prstGeom>
          <a:solidFill>
            <a:srgbClr val="08111D"/>
          </a:solidFill>
          <a:ln w="12700">
            <a:solidFill>
              <a:srgbClr val="08111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6192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04288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72384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0857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76672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4768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12864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17152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85248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53344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28953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768096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536192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04288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072384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08576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76672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144768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912864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73152" cy="6858000"/>
          </a:xfrm>
          <a:prstGeom prst="rect">
            <a:avLst>
              <a:gd name="adj" fmla="val 100000"/>
            </a:avLst>
          </a:prstGeom>
          <a:solidFill>
            <a:srgbClr val="3C91C5"/>
          </a:solidFill>
          <a:ln w="12700">
            <a:solidFill>
              <a:srgbClr val="3C91C5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2336" y="329184"/>
            <a:ext cx="109728" cy="109728"/>
          </a:xfrm>
          <a:prstGeom prst="rect">
            <a:avLst>
              <a:gd name="adj" fmla="val 66667"/>
            </a:avLst>
          </a:prstGeom>
          <a:solidFill>
            <a:srgbClr val="7CC8DE"/>
          </a:solidFill>
          <a:ln w="12700">
            <a:solidFill>
              <a:srgbClr val="7CC8D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28346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5" kern="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R4  /  DISPATCH SUPPORT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55280" y="301752"/>
            <a:ext cx="3703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F84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LIFECYCLE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6537960"/>
            <a:ext cx="11183112" cy="0"/>
          </a:xfrm>
          <a:prstGeom prst="line">
            <a:avLst/>
          </a:prstGeom>
          <a:noFill/>
          <a:ln w="12700">
            <a:solidFill>
              <a:srgbClr val="2840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60196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F849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RELAY-4   •   MVP 01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675120" y="660196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F849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PROTOTYPE  /  HUMAN-LED RESPONSE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228832" y="658368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C8D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4944" y="8503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LIFECYCLE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7512" y="1161288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1F5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Corrections should not create new cases.</a:t>
            </a:r>
            <a:endParaRPr lang="en-US" sz="2900" dirty="0"/>
          </a:p>
        </p:txBody>
      </p:sp>
      <p:sp>
        <p:nvSpPr>
          <p:cNvPr id="40" name="Text 38"/>
          <p:cNvSpPr/>
          <p:nvPr/>
        </p:nvSpPr>
        <p:spPr>
          <a:xfrm>
            <a:off x="694944" y="180136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Relay-4 associates updates with the current conversation and records what changed.</a:t>
            </a:r>
            <a:endParaRPr lang="en-US" sz="1230" dirty="0"/>
          </a:p>
        </p:txBody>
      </p:sp>
      <p:sp>
        <p:nvSpPr>
          <p:cNvPr id="41" name="Shape 39"/>
          <p:cNvSpPr/>
          <p:nvPr/>
        </p:nvSpPr>
        <p:spPr>
          <a:xfrm>
            <a:off x="713232" y="2532888"/>
            <a:ext cx="4956048" cy="2286000"/>
          </a:xfrm>
          <a:prstGeom prst="roundRect">
            <a:avLst>
              <a:gd name="adj" fmla="val 3600"/>
            </a:avLst>
          </a:prstGeom>
          <a:solidFill>
            <a:srgbClr val="101E2D"/>
          </a:solidFill>
          <a:ln w="11430">
            <a:solidFill>
              <a:srgbClr val="2840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24128" y="2825496"/>
            <a:ext cx="1362456" cy="274320"/>
          </a:xfrm>
          <a:prstGeom prst="roundRect">
            <a:avLst>
              <a:gd name="adj" fmla="val 26667"/>
            </a:avLst>
          </a:prstGeom>
          <a:solidFill>
            <a:srgbClr val="142536"/>
          </a:solidFill>
          <a:ln w="12700">
            <a:solidFill>
              <a:srgbClr val="2840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24712" y="2834640"/>
            <a:ext cx="116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120" kern="0" dirty="0">
                <a:solidFill>
                  <a:srgbClr val="3C9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REPORT</a:t>
            </a:r>
            <a:endParaRPr lang="en-US" sz="810" dirty="0"/>
          </a:p>
        </p:txBody>
      </p:sp>
      <p:sp>
        <p:nvSpPr>
          <p:cNvPr id="44" name="Text 42"/>
          <p:cNvSpPr/>
          <p:nvPr/>
        </p:nvSpPr>
        <p:spPr>
          <a:xfrm>
            <a:off x="1051560" y="336499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Location: Cypress Street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1051560" y="38313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849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Incident ID:  00042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73952" y="2532888"/>
            <a:ext cx="4956048" cy="2286000"/>
          </a:xfrm>
          <a:prstGeom prst="roundRect">
            <a:avLst>
              <a:gd name="adj" fmla="val 3600"/>
            </a:avLst>
          </a:prstGeom>
          <a:solidFill>
            <a:srgbClr val="101E2D"/>
          </a:solidFill>
          <a:ln w="11430">
            <a:solidFill>
              <a:srgbClr val="2840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75704" y="2825496"/>
            <a:ext cx="2057400" cy="274320"/>
          </a:xfrm>
          <a:prstGeom prst="roundRect">
            <a:avLst>
              <a:gd name="adj" fmla="val 26667"/>
            </a:avLst>
          </a:prstGeom>
          <a:solidFill>
            <a:srgbClr val="142536"/>
          </a:solidFill>
          <a:ln w="12700">
            <a:solidFill>
              <a:srgbClr val="2840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76288" y="2834640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120" kern="0" dirty="0">
                <a:solidFill>
                  <a:srgbClr val="E3A8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CALLER CORRECTION</a:t>
            </a:r>
            <a:endParaRPr lang="en-US" sz="810" dirty="0"/>
          </a:p>
        </p:txBody>
      </p:sp>
      <p:sp>
        <p:nvSpPr>
          <p:cNvPr id="49" name="Text 47"/>
          <p:cNvSpPr/>
          <p:nvPr/>
        </p:nvSpPr>
        <p:spPr>
          <a:xfrm>
            <a:off x="6793992" y="3364992"/>
            <a:ext cx="4343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Location: Cypress Bend Road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6793992" y="38313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849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Incident ID:  00042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760720" y="3694176"/>
            <a:ext cx="576072" cy="0"/>
          </a:xfrm>
          <a:prstGeom prst="line">
            <a:avLst/>
          </a:prstGeom>
          <a:noFill/>
          <a:ln w="25400">
            <a:solidFill>
              <a:srgbClr val="3C91C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81928" y="3625596"/>
            <a:ext cx="128016" cy="137160"/>
          </a:xfrm>
          <a:prstGeom prst="chevron">
            <a:avLst>
              <a:gd name="adj" fmla="val 57143"/>
            </a:avLst>
          </a:prstGeom>
          <a:solidFill>
            <a:srgbClr val="7CC8DE"/>
          </a:solidFill>
          <a:ln w="12700">
            <a:solidFill>
              <a:srgbClr val="7CC8DE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1520" y="5175504"/>
            <a:ext cx="10698480" cy="740664"/>
          </a:xfrm>
          <a:prstGeom prst="roundRect">
            <a:avLst>
              <a:gd name="adj" fmla="val 9877"/>
            </a:avLst>
          </a:prstGeom>
          <a:solidFill>
            <a:srgbClr val="142536"/>
          </a:solidFill>
          <a:ln w="12700">
            <a:solidFill>
              <a:srgbClr val="2840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05840" y="5376672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CONVERSATION ID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151376" y="5376672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EVENT ID PER UPDATE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415784" y="537667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HISTORY PRESERVED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68096" y="6044184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84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record. Reliable event-ID generation and retry protection must be enforced by the integration/backend.</a:t>
            </a:r>
            <a:endParaRPr lang="en-US" sz="9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>
              <a:gd name="adj" fmla="val 1067"/>
            </a:avLst>
          </a:prstGeom>
          <a:solidFill>
            <a:srgbClr val="08111D"/>
          </a:solidFill>
          <a:ln w="12700">
            <a:solidFill>
              <a:srgbClr val="08111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6192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04288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72384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0857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76672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4768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12864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17152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85248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53344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28953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768096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536192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04288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072384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08576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76672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144768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912864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73152" cy="6858000"/>
          </a:xfrm>
          <a:prstGeom prst="rect">
            <a:avLst>
              <a:gd name="adj" fmla="val 100000"/>
            </a:avLst>
          </a:prstGeom>
          <a:solidFill>
            <a:srgbClr val="3C91C5"/>
          </a:solidFill>
          <a:ln w="12700">
            <a:solidFill>
              <a:srgbClr val="3C91C5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2336" y="329184"/>
            <a:ext cx="109728" cy="109728"/>
          </a:xfrm>
          <a:prstGeom prst="rect">
            <a:avLst>
              <a:gd name="adj" fmla="val 66667"/>
            </a:avLst>
          </a:prstGeom>
          <a:solidFill>
            <a:srgbClr val="7CC8DE"/>
          </a:solidFill>
          <a:ln w="12700">
            <a:solidFill>
              <a:srgbClr val="7CC8D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28346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5" kern="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R4  /  DISPATCH SUPPORT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55280" y="301752"/>
            <a:ext cx="3703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F84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AND SAFETY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6537960"/>
            <a:ext cx="11183112" cy="0"/>
          </a:xfrm>
          <a:prstGeom prst="line">
            <a:avLst/>
          </a:prstGeom>
          <a:noFill/>
          <a:ln w="12700">
            <a:solidFill>
              <a:srgbClr val="2840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60196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F849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RELAY-4   •   MVP 01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675120" y="660196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F849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PROTOTYPE  /  HUMAN-LED RESPONSE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228832" y="658368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C8D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4944" y="8503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ACCOUNTABILITY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7512" y="1161288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1F5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Safety is a system behavior, not a slogan.</a:t>
            </a:r>
            <a:endParaRPr lang="en-US" sz="2900" dirty="0"/>
          </a:p>
        </p:txBody>
      </p:sp>
      <p:sp>
        <p:nvSpPr>
          <p:cNvPr id="40" name="Text 38"/>
          <p:cNvSpPr/>
          <p:nvPr/>
        </p:nvSpPr>
        <p:spPr>
          <a:xfrm>
            <a:off x="694944" y="180136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AI can assist intake, but emergency decisions and escalation remain under human control.</a:t>
            </a:r>
            <a:endParaRPr lang="en-US" sz="1230" dirty="0"/>
          </a:p>
        </p:txBody>
      </p:sp>
      <p:sp>
        <p:nvSpPr>
          <p:cNvPr id="41" name="Shape 39"/>
          <p:cNvSpPr/>
          <p:nvPr/>
        </p:nvSpPr>
        <p:spPr>
          <a:xfrm>
            <a:off x="704088" y="2478024"/>
            <a:ext cx="5294376" cy="1389888"/>
          </a:xfrm>
          <a:prstGeom prst="roundRect">
            <a:avLst>
              <a:gd name="adj" fmla="val 5921"/>
            </a:avLst>
          </a:prstGeom>
          <a:solidFill>
            <a:srgbClr val="101E2D"/>
          </a:solidFill>
          <a:ln w="11430">
            <a:solidFill>
              <a:srgbClr val="2840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2706624"/>
            <a:ext cx="6217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C91C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01</a:t>
            </a:r>
            <a:endParaRPr lang="en-US" sz="2300" dirty="0"/>
          </a:p>
        </p:txBody>
      </p:sp>
      <p:sp>
        <p:nvSpPr>
          <p:cNvPr id="43" name="Text 41"/>
          <p:cNvSpPr/>
          <p:nvPr/>
        </p:nvSpPr>
        <p:spPr>
          <a:xfrm>
            <a:off x="1664208" y="2660904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AUTHENTICATED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664208" y="3008376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Secret-header protected webhook; admin credentials never sent to the voice agent.</a:t>
            </a:r>
            <a:endParaRPr lang="en-US" sz="1170" dirty="0"/>
          </a:p>
        </p:txBody>
      </p:sp>
      <p:sp>
        <p:nvSpPr>
          <p:cNvPr id="45" name="Shape 43"/>
          <p:cNvSpPr/>
          <p:nvPr/>
        </p:nvSpPr>
        <p:spPr>
          <a:xfrm>
            <a:off x="6181344" y="2478024"/>
            <a:ext cx="5294376" cy="1389888"/>
          </a:xfrm>
          <a:prstGeom prst="roundRect">
            <a:avLst>
              <a:gd name="adj" fmla="val 5921"/>
            </a:avLst>
          </a:prstGeom>
          <a:solidFill>
            <a:srgbClr val="101E2D"/>
          </a:solidFill>
          <a:ln w="11430">
            <a:solidFill>
              <a:srgbClr val="2840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91656" y="2706624"/>
            <a:ext cx="6217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C91C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02</a:t>
            </a:r>
            <a:endParaRPr lang="en-US" sz="2300" dirty="0"/>
          </a:p>
        </p:txBody>
      </p:sp>
      <p:sp>
        <p:nvSpPr>
          <p:cNvPr id="47" name="Text 45"/>
          <p:cNvSpPr/>
          <p:nvPr/>
        </p:nvSpPr>
        <p:spPr>
          <a:xfrm>
            <a:off x="7141464" y="2660904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VALIDATED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141464" y="3008376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Pydantic schemas check incoming fields before they reach incident services.</a:t>
            </a:r>
            <a:endParaRPr lang="en-US" sz="1170" dirty="0"/>
          </a:p>
        </p:txBody>
      </p:sp>
      <p:sp>
        <p:nvSpPr>
          <p:cNvPr id="49" name="Shape 47"/>
          <p:cNvSpPr/>
          <p:nvPr/>
        </p:nvSpPr>
        <p:spPr>
          <a:xfrm>
            <a:off x="704088" y="4087368"/>
            <a:ext cx="5294376" cy="1389888"/>
          </a:xfrm>
          <a:prstGeom prst="roundRect">
            <a:avLst>
              <a:gd name="adj" fmla="val 5921"/>
            </a:avLst>
          </a:prstGeom>
          <a:solidFill>
            <a:srgbClr val="101E2D"/>
          </a:solidFill>
          <a:ln w="11430">
            <a:solidFill>
              <a:srgbClr val="2840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4400" y="4315968"/>
            <a:ext cx="6217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C91C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03</a:t>
            </a:r>
            <a:endParaRPr lang="en-US" sz="2300" dirty="0"/>
          </a:p>
        </p:txBody>
      </p:sp>
      <p:sp>
        <p:nvSpPr>
          <p:cNvPr id="51" name="Text 49"/>
          <p:cNvSpPr/>
          <p:nvPr/>
        </p:nvSpPr>
        <p:spPr>
          <a:xfrm>
            <a:off x="1664208" y="4270248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AUDITABLE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664208" y="4617720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Updates modify the current incident and retain an incident change history.</a:t>
            </a:r>
            <a:endParaRPr lang="en-US" sz="1170" dirty="0"/>
          </a:p>
        </p:txBody>
      </p:sp>
      <p:sp>
        <p:nvSpPr>
          <p:cNvPr id="53" name="Shape 51"/>
          <p:cNvSpPr/>
          <p:nvPr/>
        </p:nvSpPr>
        <p:spPr>
          <a:xfrm>
            <a:off x="6181344" y="4087368"/>
            <a:ext cx="5294376" cy="1389888"/>
          </a:xfrm>
          <a:prstGeom prst="roundRect">
            <a:avLst>
              <a:gd name="adj" fmla="val 5921"/>
            </a:avLst>
          </a:prstGeom>
          <a:solidFill>
            <a:srgbClr val="101E2D"/>
          </a:solidFill>
          <a:ln w="11430">
            <a:solidFill>
              <a:srgbClr val="2840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91656" y="4315968"/>
            <a:ext cx="6217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C91C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04</a:t>
            </a:r>
            <a:endParaRPr lang="en-US" sz="2300" dirty="0"/>
          </a:p>
        </p:txBody>
      </p:sp>
      <p:sp>
        <p:nvSpPr>
          <p:cNvPr id="55" name="Text 53"/>
          <p:cNvSpPr/>
          <p:nvPr/>
        </p:nvSpPr>
        <p:spPr>
          <a:xfrm>
            <a:off x="7141464" y="4270248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HUMAN-LED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141464" y="4617720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cannot dispatch responders or claim emergency help has been sent.</a:t>
            </a:r>
            <a:endParaRPr lang="en-US" sz="1170" dirty="0"/>
          </a:p>
        </p:txBody>
      </p:sp>
      <p:sp>
        <p:nvSpPr>
          <p:cNvPr id="57" name="Shape 55"/>
          <p:cNvSpPr/>
          <p:nvPr/>
        </p:nvSpPr>
        <p:spPr>
          <a:xfrm>
            <a:off x="2112264" y="5925312"/>
            <a:ext cx="7982712" cy="347472"/>
          </a:xfrm>
          <a:prstGeom prst="roundRect">
            <a:avLst>
              <a:gd name="adj" fmla="val 21053"/>
            </a:avLst>
          </a:prstGeom>
          <a:solidFill>
            <a:srgbClr val="2A211E"/>
          </a:solidFill>
          <a:ln w="12700">
            <a:solidFill>
              <a:srgbClr val="2A211E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331720" y="598932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E3A8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RELAY-4 MVP IS A PROTOTYPE — NOT A LIVE 911 DISPATCH SERVICE</a:t>
            </a:r>
            <a:endParaRPr lang="en-US" sz="9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>
              <a:gd name="adj" fmla="val 1067"/>
            </a:avLst>
          </a:prstGeom>
          <a:solidFill>
            <a:srgbClr val="08111D"/>
          </a:solidFill>
          <a:ln w="12700">
            <a:solidFill>
              <a:srgbClr val="08111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6192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04288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72384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0857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76672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4768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12864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17152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85248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53344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28953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768096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536192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04288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072384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08576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76672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144768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912864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73152" cy="6858000"/>
          </a:xfrm>
          <a:prstGeom prst="rect">
            <a:avLst>
              <a:gd name="adj" fmla="val 100000"/>
            </a:avLst>
          </a:prstGeom>
          <a:solidFill>
            <a:srgbClr val="3C91C5"/>
          </a:solidFill>
          <a:ln w="12700">
            <a:solidFill>
              <a:srgbClr val="3C91C5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2336" y="329184"/>
            <a:ext cx="109728" cy="109728"/>
          </a:xfrm>
          <a:prstGeom prst="rect">
            <a:avLst>
              <a:gd name="adj" fmla="val 66667"/>
            </a:avLst>
          </a:prstGeom>
          <a:solidFill>
            <a:srgbClr val="7CC8DE"/>
          </a:solidFill>
          <a:ln w="12700">
            <a:solidFill>
              <a:srgbClr val="7CC8D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28346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5" kern="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R4  /  DISPATCH SUPPORT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55280" y="301752"/>
            <a:ext cx="3703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F84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6537960"/>
            <a:ext cx="11183112" cy="0"/>
          </a:xfrm>
          <a:prstGeom prst="line">
            <a:avLst/>
          </a:prstGeom>
          <a:noFill/>
          <a:ln w="12700">
            <a:solidFill>
              <a:srgbClr val="2840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60196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F849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RELAY-4   •   MVP 01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675120" y="660196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F849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PROTOTYPE  /  HUMAN-LED RESPONSE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228832" y="658368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C8D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4944" y="8503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7512" y="1161288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1F5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 focused Python backend. No magic box.</a:t>
            </a:r>
            <a:endParaRPr lang="en-US" sz="2900" dirty="0"/>
          </a:p>
        </p:txBody>
      </p:sp>
      <p:sp>
        <p:nvSpPr>
          <p:cNvPr id="40" name="Text 38"/>
          <p:cNvSpPr/>
          <p:nvPr/>
        </p:nvSpPr>
        <p:spPr>
          <a:xfrm>
            <a:off x="694944" y="180136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 routes, validated schemas, incident services, persistence, and tests.</a:t>
            </a:r>
            <a:endParaRPr lang="en-US" sz="1230" dirty="0"/>
          </a:p>
        </p:txBody>
      </p:sp>
      <p:sp>
        <p:nvSpPr>
          <p:cNvPr id="41" name="Shape 39"/>
          <p:cNvSpPr/>
          <p:nvPr/>
        </p:nvSpPr>
        <p:spPr>
          <a:xfrm>
            <a:off x="694944" y="2414016"/>
            <a:ext cx="5907024" cy="3602736"/>
          </a:xfrm>
          <a:prstGeom prst="roundRect">
            <a:avLst>
              <a:gd name="adj" fmla="val 2284"/>
            </a:avLst>
          </a:prstGeom>
          <a:solidFill>
            <a:srgbClr val="101E2D"/>
          </a:solidFill>
          <a:ln w="11430">
            <a:solidFill>
              <a:srgbClr val="2840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7552" y="2670048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MODULES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14984" y="3044952"/>
            <a:ext cx="2075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CC8D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app/api/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044952" y="3035808"/>
            <a:ext cx="3191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ElevenLabs webhook + incident routes</a:t>
            </a:r>
            <a:endParaRPr lang="en-US" sz="1090" dirty="0"/>
          </a:p>
        </p:txBody>
      </p:sp>
      <p:sp>
        <p:nvSpPr>
          <p:cNvPr id="45" name="Shape 43"/>
          <p:cNvSpPr/>
          <p:nvPr/>
        </p:nvSpPr>
        <p:spPr>
          <a:xfrm>
            <a:off x="996696" y="3337560"/>
            <a:ext cx="5257800" cy="0"/>
          </a:xfrm>
          <a:prstGeom prst="line">
            <a:avLst/>
          </a:prstGeom>
          <a:noFill/>
          <a:ln w="6985">
            <a:solidFill>
              <a:srgbClr val="20334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14984" y="3483864"/>
            <a:ext cx="2075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CC8D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app/schemas.py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044952" y="3474720"/>
            <a:ext cx="3191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Pydantic request/response models</a:t>
            </a:r>
            <a:endParaRPr lang="en-US" sz="1090" dirty="0"/>
          </a:p>
        </p:txBody>
      </p:sp>
      <p:sp>
        <p:nvSpPr>
          <p:cNvPr id="48" name="Shape 46"/>
          <p:cNvSpPr/>
          <p:nvPr/>
        </p:nvSpPr>
        <p:spPr>
          <a:xfrm>
            <a:off x="996696" y="3776472"/>
            <a:ext cx="5257800" cy="0"/>
          </a:xfrm>
          <a:prstGeom prst="line">
            <a:avLst/>
          </a:prstGeom>
          <a:noFill/>
          <a:ln w="6985">
            <a:solidFill>
              <a:srgbClr val="20334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14984" y="3922776"/>
            <a:ext cx="2075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CC8D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app/services/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044952" y="3913632"/>
            <a:ext cx="3191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Upsert and audit logic</a:t>
            </a:r>
            <a:endParaRPr lang="en-US" sz="1090" dirty="0"/>
          </a:p>
        </p:txBody>
      </p:sp>
      <p:sp>
        <p:nvSpPr>
          <p:cNvPr id="51" name="Shape 49"/>
          <p:cNvSpPr/>
          <p:nvPr/>
        </p:nvSpPr>
        <p:spPr>
          <a:xfrm>
            <a:off x="996696" y="4215384"/>
            <a:ext cx="5257800" cy="0"/>
          </a:xfrm>
          <a:prstGeom prst="line">
            <a:avLst/>
          </a:prstGeom>
          <a:noFill/>
          <a:ln w="6985">
            <a:solidFill>
              <a:srgbClr val="2033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14984" y="4361688"/>
            <a:ext cx="2075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CC8D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app/models/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044952" y="4352544"/>
            <a:ext cx="3191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SQLAlchemy persistence models</a:t>
            </a:r>
            <a:endParaRPr lang="en-US" sz="1090" dirty="0"/>
          </a:p>
        </p:txBody>
      </p:sp>
      <p:sp>
        <p:nvSpPr>
          <p:cNvPr id="54" name="Shape 52"/>
          <p:cNvSpPr/>
          <p:nvPr/>
        </p:nvSpPr>
        <p:spPr>
          <a:xfrm>
            <a:off x="996696" y="4654296"/>
            <a:ext cx="5257800" cy="0"/>
          </a:xfrm>
          <a:prstGeom prst="line">
            <a:avLst/>
          </a:prstGeom>
          <a:noFill/>
          <a:ln w="6985">
            <a:solidFill>
              <a:srgbClr val="20334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14984" y="4800600"/>
            <a:ext cx="2075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CC8D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app/security.py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3044952" y="4791456"/>
            <a:ext cx="3191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Webhook and admin authentication</a:t>
            </a:r>
            <a:endParaRPr lang="en-US" sz="1090" dirty="0"/>
          </a:p>
        </p:txBody>
      </p:sp>
      <p:sp>
        <p:nvSpPr>
          <p:cNvPr id="57" name="Shape 55"/>
          <p:cNvSpPr/>
          <p:nvPr/>
        </p:nvSpPr>
        <p:spPr>
          <a:xfrm>
            <a:off x="996696" y="5093208"/>
            <a:ext cx="5257800" cy="0"/>
          </a:xfrm>
          <a:prstGeom prst="line">
            <a:avLst/>
          </a:prstGeom>
          <a:noFill/>
          <a:ln w="6985">
            <a:solidFill>
              <a:srgbClr val="20334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14984" y="5239512"/>
            <a:ext cx="2075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CC8D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app/database.py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3044952" y="5230368"/>
            <a:ext cx="3191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 integration</a:t>
            </a:r>
            <a:endParaRPr lang="en-US" sz="1090" dirty="0"/>
          </a:p>
        </p:txBody>
      </p:sp>
      <p:sp>
        <p:nvSpPr>
          <p:cNvPr id="60" name="Shape 58"/>
          <p:cNvSpPr/>
          <p:nvPr/>
        </p:nvSpPr>
        <p:spPr>
          <a:xfrm>
            <a:off x="6858000" y="2414016"/>
            <a:ext cx="4617720" cy="1828800"/>
          </a:xfrm>
          <a:prstGeom prst="roundRect">
            <a:avLst>
              <a:gd name="adj" fmla="val 4500"/>
            </a:avLst>
          </a:prstGeom>
          <a:solidFill>
            <a:srgbClr val="101E2D"/>
          </a:solidFill>
          <a:ln w="11430">
            <a:solidFill>
              <a:srgbClr val="2840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68896" y="2688336"/>
            <a:ext cx="3337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SIGNAL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168896" y="3081528"/>
            <a:ext cx="257860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4B69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12 / 12</a:t>
            </a:r>
            <a:endParaRPr lang="en-US" sz="3400" dirty="0"/>
          </a:p>
        </p:txBody>
      </p:sp>
      <p:sp>
        <p:nvSpPr>
          <p:cNvPr id="63" name="Text 61"/>
          <p:cNvSpPr/>
          <p:nvPr/>
        </p:nvSpPr>
        <p:spPr>
          <a:xfrm>
            <a:off x="7159752" y="3666744"/>
            <a:ext cx="3813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TESTS PASSED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858000" y="4443984"/>
            <a:ext cx="4617720" cy="1572768"/>
          </a:xfrm>
          <a:prstGeom prst="roundRect">
            <a:avLst>
              <a:gd name="adj" fmla="val 5233"/>
            </a:avLst>
          </a:prstGeom>
          <a:solidFill>
            <a:srgbClr val="101E2D"/>
          </a:solidFill>
          <a:ln w="11430">
            <a:solidFill>
              <a:srgbClr val="28405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59752" y="4690872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SCOPE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159752" y="5111496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90" b="1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→ webhook → incident update</a:t>
            </a:r>
            <a:endParaRPr lang="en-US" sz="1390" dirty="0"/>
          </a:p>
        </p:txBody>
      </p:sp>
      <p:sp>
        <p:nvSpPr>
          <p:cNvPr id="67" name="Text 65"/>
          <p:cNvSpPr/>
          <p:nvPr/>
        </p:nvSpPr>
        <p:spPr>
          <a:xfrm>
            <a:off x="749808" y="611733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F84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result provided from local pytest run; it does not prove end-to-end voice integration.</a:t>
            </a:r>
            <a:endParaRPr lang="en-US" sz="9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>
              <a:gd name="adj" fmla="val 1067"/>
            </a:avLst>
          </a:prstGeom>
          <a:solidFill>
            <a:srgbClr val="08111D"/>
          </a:solidFill>
          <a:ln w="12700">
            <a:solidFill>
              <a:srgbClr val="08111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6192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04288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72384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0857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76672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4768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12864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17152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85248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53344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289536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768096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536192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04288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072384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08576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76672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144768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912864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73152" cy="6858000"/>
          </a:xfrm>
          <a:prstGeom prst="rect">
            <a:avLst>
              <a:gd name="adj" fmla="val 100000"/>
            </a:avLst>
          </a:prstGeom>
          <a:solidFill>
            <a:srgbClr val="3C91C5"/>
          </a:solidFill>
          <a:ln w="12700">
            <a:solidFill>
              <a:srgbClr val="3C91C5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2336" y="329184"/>
            <a:ext cx="109728" cy="109728"/>
          </a:xfrm>
          <a:prstGeom prst="rect">
            <a:avLst>
              <a:gd name="adj" fmla="val 66667"/>
            </a:avLst>
          </a:prstGeom>
          <a:solidFill>
            <a:srgbClr val="7CC8DE"/>
          </a:solidFill>
          <a:ln w="12700">
            <a:solidFill>
              <a:srgbClr val="7CC8D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28346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5" kern="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R4  /  DISPATCH SUPPORT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55280" y="301752"/>
            <a:ext cx="3703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F84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DEMONSTRATION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6537960"/>
            <a:ext cx="11183112" cy="0"/>
          </a:xfrm>
          <a:prstGeom prst="line">
            <a:avLst/>
          </a:prstGeom>
          <a:noFill/>
          <a:ln w="12700">
            <a:solidFill>
              <a:srgbClr val="2840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60196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F849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RELAY-4   •   MVP 01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675120" y="660196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F849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PROTOTYPE  /  HUMAN-LED RESPONSE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228832" y="658368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C8D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09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4944" y="8503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DEMONSTRATION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7512" y="1161288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1F5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Show the incident moving through the system.</a:t>
            </a:r>
            <a:endParaRPr lang="en-US" sz="2900" dirty="0"/>
          </a:p>
        </p:txBody>
      </p:sp>
      <p:sp>
        <p:nvSpPr>
          <p:cNvPr id="40" name="Text 38"/>
          <p:cNvSpPr/>
          <p:nvPr/>
        </p:nvSpPr>
        <p:spPr>
          <a:xfrm>
            <a:off x="694944" y="180136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short, controlled proof of the MVP. Use fictional call details only.</a:t>
            </a:r>
            <a:endParaRPr lang="en-US" sz="1230" dirty="0"/>
          </a:p>
        </p:txBody>
      </p:sp>
      <p:sp>
        <p:nvSpPr>
          <p:cNvPr id="41" name="Shape 39"/>
          <p:cNvSpPr/>
          <p:nvPr/>
        </p:nvSpPr>
        <p:spPr>
          <a:xfrm>
            <a:off x="740664" y="2423160"/>
            <a:ext cx="10680192" cy="713232"/>
          </a:xfrm>
          <a:prstGeom prst="roundRect">
            <a:avLst>
              <a:gd name="adj" fmla="val 11538"/>
            </a:avLst>
          </a:prstGeom>
          <a:solidFill>
            <a:srgbClr val="101E2D"/>
          </a:solidFill>
          <a:ln w="11430">
            <a:solidFill>
              <a:srgbClr val="2840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24128" y="26243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C91C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01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883664" y="2633472"/>
            <a:ext cx="17190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712464" y="2569464"/>
            <a:ext cx="0" cy="411480"/>
          </a:xfrm>
          <a:prstGeom prst="line">
            <a:avLst/>
          </a:prstGeom>
          <a:noFill/>
          <a:ln w="12700">
            <a:solidFill>
              <a:srgbClr val="2840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14216" y="2578608"/>
            <a:ext cx="69677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FastAPI and the HTTPS tunnel.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40664" y="3300984"/>
            <a:ext cx="10680192" cy="713232"/>
          </a:xfrm>
          <a:prstGeom prst="roundRect">
            <a:avLst>
              <a:gd name="adj" fmla="val 11538"/>
            </a:avLst>
          </a:prstGeom>
          <a:solidFill>
            <a:srgbClr val="101E2D"/>
          </a:solidFill>
          <a:ln w="11430">
            <a:solidFill>
              <a:srgbClr val="2840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24128" y="350215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C91C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02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1883664" y="3511296"/>
            <a:ext cx="17190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3712464" y="3447288"/>
            <a:ext cx="0" cy="411480"/>
          </a:xfrm>
          <a:prstGeom prst="line">
            <a:avLst/>
          </a:prstGeom>
          <a:noFill/>
          <a:ln w="12700">
            <a:solidFill>
              <a:srgbClr val="2840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14216" y="3456432"/>
            <a:ext cx="69677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a fictional flooding incident to the agent.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40664" y="4178808"/>
            <a:ext cx="10680192" cy="713232"/>
          </a:xfrm>
          <a:prstGeom prst="roundRect">
            <a:avLst>
              <a:gd name="adj" fmla="val 11538"/>
            </a:avLst>
          </a:prstGeom>
          <a:solidFill>
            <a:srgbClr val="101E2D"/>
          </a:solidFill>
          <a:ln w="11430">
            <a:solidFill>
              <a:srgbClr val="2840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24128" y="437997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C91C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03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1883664" y="4389120"/>
            <a:ext cx="17190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3712464" y="4325112"/>
            <a:ext cx="0" cy="411480"/>
          </a:xfrm>
          <a:prstGeom prst="line">
            <a:avLst/>
          </a:prstGeom>
          <a:noFill/>
          <a:ln w="12700">
            <a:solidFill>
              <a:srgbClr val="2840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14216" y="4334256"/>
            <a:ext cx="69677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the webhook creates a structured incident.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740664" y="5056632"/>
            <a:ext cx="10680192" cy="713232"/>
          </a:xfrm>
          <a:prstGeom prst="roundRect">
            <a:avLst>
              <a:gd name="adj" fmla="val 11538"/>
            </a:avLst>
          </a:prstGeom>
          <a:solidFill>
            <a:srgbClr val="101E2D"/>
          </a:solidFill>
          <a:ln w="11430">
            <a:solidFill>
              <a:srgbClr val="2840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24128" y="52578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C91C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04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1883664" y="5266944"/>
            <a:ext cx="17190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F5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3712464" y="5202936"/>
            <a:ext cx="0" cy="411480"/>
          </a:xfrm>
          <a:prstGeom prst="line">
            <a:avLst/>
          </a:prstGeom>
          <a:noFill/>
          <a:ln w="12700">
            <a:solidFill>
              <a:srgbClr val="2840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14216" y="5212080"/>
            <a:ext cx="69677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a location; verify a same-case update and audit history.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749808" y="6062472"/>
            <a:ext cx="10652760" cy="265176"/>
          </a:xfrm>
          <a:prstGeom prst="roundRect">
            <a:avLst>
              <a:gd name="adj" fmla="val 27586"/>
            </a:avLst>
          </a:prstGeom>
          <a:solidFill>
            <a:srgbClr val="142536"/>
          </a:solidFill>
          <a:ln w="12700">
            <a:solidFill>
              <a:srgbClr val="142536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50976" y="6108192"/>
            <a:ext cx="102595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CC8D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PASS CONDITION: ONE INCIDENT RECORD, VERIFIED FIELDS, CORRECTION HISTORY, NO FALSE DISPATCH CLAIM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>
              <a:gd name="adj" fmla="val 1067"/>
            </a:avLst>
          </a:prstGeom>
          <a:solidFill>
            <a:srgbClr val="08111D"/>
          </a:solidFill>
          <a:ln w="12700">
            <a:solidFill>
              <a:srgbClr val="08111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7452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176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8348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6968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4692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978640" y="0"/>
            <a:ext cx="0" cy="685800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78308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46888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15468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52628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89788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583680"/>
            <a:ext cx="12191695" cy="0"/>
          </a:xfrm>
          <a:prstGeom prst="line">
            <a:avLst/>
          </a:prstGeom>
          <a:noFill/>
          <a:ln w="4445">
            <a:solidFill>
              <a:srgbClr val="14243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09728" cy="6858000"/>
          </a:xfrm>
          <a:prstGeom prst="rect">
            <a:avLst>
              <a:gd name="adj" fmla="val 66667"/>
            </a:avLst>
          </a:prstGeom>
          <a:solidFill>
            <a:srgbClr val="3C91C5"/>
          </a:solidFill>
          <a:ln w="12700">
            <a:solidFill>
              <a:srgbClr val="3C91C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" y="777240"/>
            <a:ext cx="6400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RELAY-4 / MISSION STATEMENT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8096" y="1874520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1F5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LESS TYPING.</a:t>
            </a:r>
            <a:endParaRPr lang="en-US" sz="5000" dirty="0"/>
          </a:p>
        </p:txBody>
      </p:sp>
      <p:sp>
        <p:nvSpPr>
          <p:cNvPr id="32" name="Text 30"/>
          <p:cNvSpPr/>
          <p:nvPr/>
        </p:nvSpPr>
        <p:spPr>
          <a:xfrm>
            <a:off x="768096" y="2724912"/>
            <a:ext cx="10515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7CC8D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MORE JUDGMENT.</a:t>
            </a:r>
            <a:endParaRPr lang="en-US" sz="5000" dirty="0"/>
          </a:p>
        </p:txBody>
      </p:sp>
      <p:sp>
        <p:nvSpPr>
          <p:cNvPr id="33" name="Shape 31"/>
          <p:cNvSpPr/>
          <p:nvPr/>
        </p:nvSpPr>
        <p:spPr>
          <a:xfrm>
            <a:off x="850392" y="3840480"/>
            <a:ext cx="8668512" cy="0"/>
          </a:xfrm>
          <a:prstGeom prst="line">
            <a:avLst/>
          </a:prstGeom>
          <a:noFill/>
          <a:ln w="38100">
            <a:solidFill>
              <a:srgbClr val="3C9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9536" y="4151376"/>
            <a:ext cx="94183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Relay-4 supports emergency intake with a clear, factual record.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A7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human remains in command.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868680" y="6080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F849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MVP 01  •  ELEVENLABS + FASTAPI + SQLITE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Relay-4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Relay-4 | Emergency Intake Intelligence</dc:title>
  <dc:subject>Relay-4 MVP 1: AI-assisted emergency intake</dc:subject>
  <dc:creator>OpenAI</dc:creator>
  <cp:lastModifiedBy>OpenAI</cp:lastModifiedBy>
  <cp:revision>1</cp:revision>
  <dcterms:created xsi:type="dcterms:W3CDTF">2026-10-25T04:29:24Z</dcterms:created>
  <dcterms:modified xsi:type="dcterms:W3CDTF">2026-10-25T04:29:24Z</dcterms:modified>
</cp:coreProperties>
</file>